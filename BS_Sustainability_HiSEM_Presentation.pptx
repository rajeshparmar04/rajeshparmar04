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present our group research project on the Economic Determinants of Sustainability within the Hi-SEM framework, based on a PRISMA systematic review of empirical literature from 1991 to 1997. Our team comprises Mihir Shrimali, Mukul Paul, Rajesh Parmar, and Dhruv Shekhava, under the guidance of Prof. Pinkesh Paramar.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agenda for today's presentation. We will walk through the research context, explain our PRISMA methodology, synthesise key findings from the literature, map them to the Hi-SEM framework, and conclude with implications for practitioners and future research.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is motivated by the observation that sustainability outcomes in Hi-SEM economies are not merely driven by environmental policy, but are deeply rooted in economic fundamentals. The period 1991–1997 captures a transformative phase—global liberalisation, currency crises, and the early institutionalisation of ESG thinking. Existing reviews either focus on single-country data or ignore financial market variables. Our PRISMA review addresses this gap.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central research problem is to understand which economic factors most robustly predict sustainability outcomes in high-impact developing and emerging markets. We decompose this into primary and secondary objectives, culminating in a multi-variable research question that guides our review protocol.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adopted the PRISMA 2020 guidelines to ensure methodological rigour and transparency. Starting from 312 records across five major academic databases, we applied a four-stage funnel: identification, screening, eligibility, and inclusion. The final corpus of 30 high-quality empirical studies forms the backbone of our synthesis. Exclusion was based on lack of empirical data, being outside the review window, or absence of a Hi-SEM context.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 studies span four major Hi-SEM regions. Asia dominates with 40% of the studies, reflecting the rapid industrialisation and sustainability pressures of the period. Methodologically, panel data regression and cointegration tests are most prevalent. The Environmental Kuznets Curve—postulating an inverted-U relationship between income and environmental degradation—is the most cited theoretical lens, though several studies challenge its applicability in low-income Hi-SEM contexts.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Synthesising across all 30 studies, five economic factors emerge as the most robust determinants of sustainability outcomes in Hi-SEM. GDP growth is the most universally cited, confirming the growth-environment nexus. Financial depth is critical—shallow capital markets prevent firms from financing sustainability transitions. Trade and FDI present a double-edged sword: technology spillovers versus pollution haven effects. Institutional quality consistently moderates the impact of all other variables. Urbanisation is significant in the Asian context especially.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maps out the variable landscape. The independent variables capture economic fundamentals from multiple dimensions—income, finance, trade, and governance. The dependent variables operationalise sustainability primarily through environmental outcomes like emissions and energy intensity, with a subset of studies incorporating green investment. Governance quality emerges as the most important moderator, amplifying or dampening the effect of all economic drivers on sustainability outcomes.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Hi-SEM framework provides the conceptual scaffold for mapping our synthesised findings. We identify three pillars: Economic, Institutional, and Socio-Structural. Each pillar contains specific determinants drawn from the reviewed literature. A key insight from the mapping exercise is that sustainability performance in Hi-SEM economies is not driven by any single pillar in isolation—it emerges from the alignment and interaction of all three. Countries that achieved more sustainable trajectories in the 1990s were those where economic growth was matched by improving institutions and managed urbanisation.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synthesis reveals five robust findings. First, the EKC is not universal—it holds only for countries that have already crossed a development threshold. Second, financial deepening is a necessary (though not sufficient) condition for sustainability transitions. Third, FDI's impact depends critically on the type of investment and the host country's absorptive capacity. Fourth, governance is the most powerful lever—improving institutions delivers measurable environmental dividends. Fifth, urbanisation follows a non-linear path analogous to the EKC itself.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 all systematic reviews, our study is subject to several limitations. Publication bias remains a structural concern. The heterogeneity in how sustainability is operationalised across studies makes direct aggregation difficult. The geographic skew towards Asia may constrain generalisability, and the temporal boundary of 1997 excludes pivotal post-crisis and post-Kyoto developments. Future research should extend the review window and include grey literature.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PRISMA-based review makes a clear theoretical contribution by anchoring the Hi-SEM framework in empirical evidence. Practically, policymakers in Hi-SEM economies should recognise that sustainability is not just an environmental challenge—it is a macroeconomic and institutional challenge. For corporations, this means that ESG reporting and strategy must be contextualised within each country's institutional landscape. We see three priority areas for future research: extending the review window, conducting meta-regression, and primary data testing of the Hi-SEM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a curated selection of the most foundational studies in our corpus. The complete bibliography of all 30 reviewed studies, along with their extracted variables and findings, is available in the accompanying research report and the ROL CSV dataset.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for their time and attention. Invite questions. Be prepared to elaborate on the PRISMA process, the Hi-SEM mapping logic, and the specific findings on FDI and governance.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371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0840"/>
            <a:ext cx="9144000" cy="1371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37160"/>
            <a:ext cx="164592" cy="6583680"/>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320040"/>
            <a:ext cx="8549640" cy="6355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8412480" cy="365760"/>
          </a:xfrm>
          <a:prstGeom prst="rect">
            <a:avLst/>
          </a:prstGeom>
          <a:noFill/>
        </p:spPr>
        <p:txBody>
          <a:bodyPr wrap="square">
            <a:spAutoFit/>
          </a:bodyPr>
          <a:lstStyle/>
          <a:p>
            <a:pPr algn="ctr"/>
            <a:r>
              <a:rPr sz="1000" b="0" i="1">
                <a:solidFill>
                  <a:srgbClr val="235E9B"/>
                </a:solidFill>
              </a:rPr>
              <a:t>Business Sustainability | Group Project Presentation</a:t>
            </a:r>
          </a:p>
        </p:txBody>
      </p:sp>
      <p:sp>
        <p:nvSpPr>
          <p:cNvPr id="8" name="Rectangle 7"/>
          <p:cNvSpPr/>
          <p:nvPr/>
        </p:nvSpPr>
        <p:spPr>
          <a:xfrm>
            <a:off x="502920" y="685800"/>
            <a:ext cx="8412480" cy="457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749808"/>
            <a:ext cx="8412480" cy="1417320"/>
          </a:xfrm>
          <a:prstGeom prst="rect">
            <a:avLst/>
          </a:prstGeom>
          <a:noFill/>
        </p:spPr>
        <p:txBody>
          <a:bodyPr wrap="square">
            <a:spAutoFit/>
          </a:bodyPr>
          <a:lstStyle/>
          <a:p>
            <a:pPr algn="ctr"/>
            <a:r>
              <a:rPr sz="2800" b="1" i="0">
                <a:solidFill>
                  <a:srgbClr val="1B355E"/>
                </a:solidFill>
              </a:rPr>
              <a:t>Economic Determinants of Sustainability
in the Hi-SEM</a:t>
            </a:r>
          </a:p>
        </p:txBody>
      </p:sp>
      <p:sp>
        <p:nvSpPr>
          <p:cNvPr id="10" name="TextBox 9"/>
          <p:cNvSpPr txBox="1"/>
          <p:nvPr/>
        </p:nvSpPr>
        <p:spPr>
          <a:xfrm>
            <a:off x="502920" y="2103120"/>
            <a:ext cx="8412480" cy="502920"/>
          </a:xfrm>
          <a:prstGeom prst="rect">
            <a:avLst/>
          </a:prstGeom>
          <a:noFill/>
        </p:spPr>
        <p:txBody>
          <a:bodyPr wrap="square">
            <a:spAutoFit/>
          </a:bodyPr>
          <a:lstStyle/>
          <a:p>
            <a:pPr algn="ctr"/>
            <a:r>
              <a:rPr sz="1400" b="0" i="1">
                <a:solidFill>
                  <a:srgbClr val="235E9B"/>
                </a:solidFill>
              </a:rPr>
              <a:t>A PRISMA-Based Systematic Review (1991–1997) &amp; Hi-SEM Mapping</a:t>
            </a:r>
          </a:p>
        </p:txBody>
      </p:sp>
      <p:sp>
        <p:nvSpPr>
          <p:cNvPr id="11" name="Rectangle 10"/>
          <p:cNvSpPr/>
          <p:nvPr/>
        </p:nvSpPr>
        <p:spPr>
          <a:xfrm>
            <a:off x="502920" y="2651760"/>
            <a:ext cx="841248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743200"/>
            <a:ext cx="8412480" cy="320040"/>
          </a:xfrm>
          <a:prstGeom prst="rect">
            <a:avLst/>
          </a:prstGeom>
          <a:noFill/>
        </p:spPr>
        <p:txBody>
          <a:bodyPr wrap="square">
            <a:spAutoFit/>
          </a:bodyPr>
          <a:lstStyle/>
          <a:p>
            <a:pPr algn="ctr"/>
            <a:r>
              <a:rPr sz="1100" b="1" i="0">
                <a:solidFill>
                  <a:srgbClr val="1B355E"/>
                </a:solidFill>
              </a:rPr>
              <a:t>Team Members</a:t>
            </a:r>
          </a:p>
        </p:txBody>
      </p:sp>
      <p:sp>
        <p:nvSpPr>
          <p:cNvPr id="13" name="TextBox 12"/>
          <p:cNvSpPr txBox="1"/>
          <p:nvPr/>
        </p:nvSpPr>
        <p:spPr>
          <a:xfrm>
            <a:off x="502920" y="3017520"/>
            <a:ext cx="8412480" cy="365760"/>
          </a:xfrm>
          <a:prstGeom prst="rect">
            <a:avLst/>
          </a:prstGeom>
          <a:noFill/>
        </p:spPr>
        <p:txBody>
          <a:bodyPr wrap="square">
            <a:spAutoFit/>
          </a:bodyPr>
          <a:lstStyle/>
          <a:p>
            <a:pPr algn="ctr"/>
            <a:r>
              <a:rPr sz="1200" b="0" i="0">
                <a:solidFill>
                  <a:srgbClr val="1A1A2E"/>
                </a:solidFill>
              </a:rPr>
              <a:t>Mihir Shrimali  ·  Mukul Paul  ·  Rajesh Parmar  ·  Dhruv Shekhava</a:t>
            </a:r>
          </a:p>
        </p:txBody>
      </p:sp>
      <p:sp>
        <p:nvSpPr>
          <p:cNvPr id="14" name="TextBox 13"/>
          <p:cNvSpPr txBox="1"/>
          <p:nvPr/>
        </p:nvSpPr>
        <p:spPr>
          <a:xfrm>
            <a:off x="502920" y="3429000"/>
            <a:ext cx="8412480" cy="365760"/>
          </a:xfrm>
          <a:prstGeom prst="rect">
            <a:avLst/>
          </a:prstGeom>
          <a:noFill/>
        </p:spPr>
        <p:txBody>
          <a:bodyPr wrap="square">
            <a:spAutoFit/>
          </a:bodyPr>
          <a:lstStyle/>
          <a:p>
            <a:pPr algn="ctr"/>
            <a:r>
              <a:rPr sz="1100" b="0" i="1">
                <a:solidFill>
                  <a:srgbClr val="2D6A4F"/>
                </a:solidFill>
              </a:rPr>
              <a:t>Faculty Guide: Prof. Pinkesh Paramar</a:t>
            </a:r>
          </a:p>
        </p:txBody>
      </p:sp>
      <p:sp>
        <p:nvSpPr>
          <p:cNvPr id="15" name="Rectangle 14"/>
          <p:cNvSpPr/>
          <p:nvPr/>
        </p:nvSpPr>
        <p:spPr>
          <a:xfrm>
            <a:off x="502920" y="3858768"/>
            <a:ext cx="841248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931920"/>
            <a:ext cx="8412480" cy="320040"/>
          </a:xfrm>
          <a:prstGeom prst="rect">
            <a:avLst/>
          </a:prstGeom>
          <a:noFill/>
        </p:spPr>
        <p:txBody>
          <a:bodyPr wrap="square">
            <a:spAutoFit/>
          </a:bodyPr>
          <a:lstStyle/>
          <a:p>
            <a:pPr algn="ctr"/>
            <a:r>
              <a:rPr sz="1100" b="0" i="0">
                <a:solidFill>
                  <a:srgbClr val="235E9B"/>
                </a:solidFill>
              </a:rPr>
              <a:t>March 2026</a:t>
            </a:r>
          </a:p>
        </p:txBody>
      </p:sp>
      <p:sp>
        <p:nvSpPr>
          <p:cNvPr id="17" name="TextBox 16"/>
          <p:cNvSpPr txBox="1"/>
          <p:nvPr/>
        </p:nvSpPr>
        <p:spPr>
          <a:xfrm>
            <a:off x="502920" y="4297680"/>
            <a:ext cx="8412480" cy="365760"/>
          </a:xfrm>
          <a:prstGeom prst="rect">
            <a:avLst/>
          </a:prstGeom>
          <a:noFill/>
        </p:spPr>
        <p:txBody>
          <a:bodyPr wrap="square">
            <a:spAutoFit/>
          </a:bodyPr>
          <a:lstStyle/>
          <a:p>
            <a:pPr algn="ctr"/>
            <a:r>
              <a:rPr sz="1000" b="0" i="1">
                <a:solidFill>
                  <a:srgbClr val="2D6A4F"/>
                </a:solidFill>
              </a:rPr>
              <a:t>🌿  Sustainability  ·  Finance  ·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2</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Agenda</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1.  Introduction &amp; Research Context</a:t>
            </a:r>
          </a:p>
          <a:p>
            <a:pPr>
              <a:spcBef>
                <a:spcPts val="400"/>
              </a:spcBef>
            </a:pPr>
            <a:r>
              <a:rPr sz="1400" b="1">
                <a:solidFill>
                  <a:srgbClr val="1B355E"/>
                </a:solidFill>
              </a:rPr>
              <a:t>◆ 2.  Research Problem &amp; Objectives</a:t>
            </a:r>
          </a:p>
          <a:p>
            <a:pPr>
              <a:spcBef>
                <a:spcPts val="400"/>
              </a:spcBef>
            </a:pPr>
            <a:r>
              <a:rPr sz="1400" b="1">
                <a:solidFill>
                  <a:srgbClr val="1B355E"/>
                </a:solidFill>
              </a:rPr>
              <a:t>◆ 3.  PRISMA Methodology</a:t>
            </a:r>
          </a:p>
          <a:p>
            <a:pPr>
              <a:spcBef>
                <a:spcPts val="400"/>
              </a:spcBef>
            </a:pPr>
            <a:r>
              <a:rPr sz="1400" b="1">
                <a:solidFill>
                  <a:srgbClr val="1B355E"/>
                </a:solidFill>
              </a:rPr>
              <a:t>◆ 4.  Literature Review – Synthesised Findings</a:t>
            </a:r>
          </a:p>
          <a:p>
            <a:pPr>
              <a:spcBef>
                <a:spcPts val="400"/>
              </a:spcBef>
            </a:pPr>
            <a:r>
              <a:rPr sz="1400" b="1">
                <a:solidFill>
                  <a:srgbClr val="1B355E"/>
                </a:solidFill>
              </a:rPr>
              <a:t>◆ 5.  Top Economic Factors &amp; Variables</a:t>
            </a:r>
          </a:p>
          <a:p>
            <a:pPr>
              <a:spcBef>
                <a:spcPts val="400"/>
              </a:spcBef>
            </a:pPr>
            <a:r>
              <a:rPr sz="1400" b="1">
                <a:solidFill>
                  <a:srgbClr val="1B355E"/>
                </a:solidFill>
              </a:rPr>
              <a:t>◆ 6.  Hi-SEM Mapping</a:t>
            </a:r>
          </a:p>
          <a:p>
            <a:pPr>
              <a:spcBef>
                <a:spcPts val="400"/>
              </a:spcBef>
            </a:pPr>
            <a:r>
              <a:rPr sz="1400" b="1">
                <a:solidFill>
                  <a:srgbClr val="1B355E"/>
                </a:solidFill>
              </a:rPr>
              <a:t>◆ 7.  Key Findings &amp; Discussion</a:t>
            </a:r>
          </a:p>
          <a:p>
            <a:pPr>
              <a:spcBef>
                <a:spcPts val="400"/>
              </a:spcBef>
            </a:pPr>
            <a:r>
              <a:rPr sz="1400" b="1">
                <a:solidFill>
                  <a:srgbClr val="1B355E"/>
                </a:solidFill>
              </a:rPr>
              <a:t>◆ 8.  Limitations of the Study</a:t>
            </a:r>
          </a:p>
          <a:p>
            <a:pPr>
              <a:spcBef>
                <a:spcPts val="400"/>
              </a:spcBef>
            </a:pPr>
            <a:r>
              <a:rPr sz="1400" b="1">
                <a:solidFill>
                  <a:srgbClr val="1B355E"/>
                </a:solidFill>
              </a:rPr>
              <a:t>◆ 9.  Conclusion &amp; Implications</a:t>
            </a:r>
          </a:p>
          <a:p>
            <a:pPr>
              <a:spcBef>
                <a:spcPts val="400"/>
              </a:spcBef>
            </a:pPr>
            <a:r>
              <a:rPr sz="1400" b="1">
                <a:solidFill>
                  <a:srgbClr val="1B355E"/>
                </a:solidFill>
              </a:rPr>
              <a:t>◆ 10. References</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Numbered vertical roadmap / timeline graphic</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Agenda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3</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Introduction &amp; Research Context</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Sustainability in High-Impact Socio-Economic Markets (Hi-SEM) is shaped by complex macro-financial forces</a:t>
            </a:r>
          </a:p>
          <a:p>
            <a:pPr>
              <a:spcBef>
                <a:spcPts val="400"/>
              </a:spcBef>
            </a:pPr>
            <a:r>
              <a:rPr sz="1400" b="1">
                <a:solidFill>
                  <a:srgbClr val="1B355E"/>
                </a:solidFill>
              </a:rPr>
              <a:t>◆ The 1990s marked a pivotal decade: liberalisation, financialisation, and growing ESG discourse</a:t>
            </a:r>
          </a:p>
          <a:p>
            <a:pPr>
              <a:spcBef>
                <a:spcPts val="400"/>
              </a:spcBef>
            </a:pPr>
            <a:r>
              <a:rPr sz="1400" b="1">
                <a:solidFill>
                  <a:srgbClr val="1B355E"/>
                </a:solidFill>
              </a:rPr>
              <a:t>◆ Prior reviews lack a structured synthesis of economic determinants in the Hi-SEM context</a:t>
            </a:r>
          </a:p>
          <a:p>
            <a:pPr>
              <a:spcBef>
                <a:spcPts val="400"/>
              </a:spcBef>
            </a:pPr>
            <a:r>
              <a:rPr sz="1400" b="1">
                <a:solidFill>
                  <a:srgbClr val="1B355E"/>
                </a:solidFill>
              </a:rPr>
              <a:t>◆ This study bridges that gap through a rigorous PRISMA-based systematic literature review</a:t>
            </a:r>
          </a:p>
          <a:p>
            <a:pPr lvl="1">
              <a:spcBef>
                <a:spcPts val="200"/>
              </a:spcBef>
            </a:pPr>
            <a:r>
              <a:rPr sz="1200" b="0">
                <a:solidFill>
                  <a:srgbClr val="1A1A2E"/>
                </a:solidFill>
              </a:rPr>
              <a:t>  – Covers 30 empirical studies published between 1991 and 1997</a:t>
            </a:r>
          </a:p>
          <a:p>
            <a:pPr lvl="1">
              <a:spcBef>
                <a:spcPts val="200"/>
              </a:spcBef>
            </a:pPr>
            <a:r>
              <a:rPr sz="1200" b="0">
                <a:solidFill>
                  <a:srgbClr val="1A1A2E"/>
                </a:solidFill>
              </a:rPr>
              <a:t>  – Focuses on institutional, financial, and macro-economic variables driving sustainability outcomes</a:t>
            </a:r>
          </a:p>
          <a:p>
            <a:pPr>
              <a:spcBef>
                <a:spcPts val="400"/>
              </a:spcBef>
            </a:pPr>
            <a:r>
              <a:rPr sz="1400" b="1">
                <a:solidFill>
                  <a:srgbClr val="1B355E"/>
                </a:solidFill>
              </a:rPr>
              <a:t>◆ Findings are mapped onto the Hi-SEM framework to identify strategic leverage points</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World map highlighting Hi-SEM economies with timeline (1991–1997)</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4</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Research Problem &amp; Objectives</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Research Problem</a:t>
            </a:r>
          </a:p>
          <a:p>
            <a:pPr lvl="1">
              <a:spcBef>
                <a:spcPts val="200"/>
              </a:spcBef>
            </a:pPr>
            <a:r>
              <a:rPr sz="1200" b="0">
                <a:solidFill>
                  <a:srgbClr val="1A1A2E"/>
                </a:solidFill>
              </a:rPr>
              <a:t>  – What economic determinants most significantly influence sustainability performance in Hi-SEM economies during 1991–1997?</a:t>
            </a:r>
          </a:p>
          <a:p>
            <a:pPr>
              <a:spcBef>
                <a:spcPts val="400"/>
              </a:spcBef>
            </a:pPr>
            <a:r>
              <a:rPr sz="1400" b="1">
                <a:solidFill>
                  <a:srgbClr val="1B355E"/>
                </a:solidFill>
              </a:rPr>
              <a:t>◆ Primary Objective</a:t>
            </a:r>
          </a:p>
          <a:p>
            <a:pPr lvl="1">
              <a:spcBef>
                <a:spcPts val="200"/>
              </a:spcBef>
            </a:pPr>
            <a:r>
              <a:rPr sz="1200" b="0">
                <a:solidFill>
                  <a:srgbClr val="1A1A2E"/>
                </a:solidFill>
              </a:rPr>
              <a:t>  – Systematically review and synthesise empirical evidence on economic drivers of sustainability in Hi-SEM</a:t>
            </a:r>
          </a:p>
          <a:p>
            <a:pPr>
              <a:spcBef>
                <a:spcPts val="400"/>
              </a:spcBef>
            </a:pPr>
            <a:r>
              <a:rPr sz="1400" b="1">
                <a:solidFill>
                  <a:srgbClr val="1B355E"/>
                </a:solidFill>
              </a:rPr>
              <a:t>◆ Secondary Objectives</a:t>
            </a:r>
          </a:p>
          <a:p>
            <a:pPr lvl="1">
              <a:spcBef>
                <a:spcPts val="200"/>
              </a:spcBef>
            </a:pPr>
            <a:r>
              <a:rPr sz="1200" b="0">
                <a:solidFill>
                  <a:srgbClr val="1A1A2E"/>
                </a:solidFill>
              </a:rPr>
              <a:t>  – Identify recurring macro-financial and institutional variables across the reviewed literature</a:t>
            </a:r>
          </a:p>
          <a:p>
            <a:pPr lvl="1">
              <a:spcBef>
                <a:spcPts val="200"/>
              </a:spcBef>
            </a:pPr>
            <a:r>
              <a:rPr sz="1200" b="0">
                <a:solidFill>
                  <a:srgbClr val="1A1A2E"/>
                </a:solidFill>
              </a:rPr>
              <a:t>  – Map identified determinants onto the Hi-SEM conceptual framework</a:t>
            </a:r>
          </a:p>
          <a:p>
            <a:pPr lvl="1">
              <a:spcBef>
                <a:spcPts val="200"/>
              </a:spcBef>
            </a:pPr>
            <a:r>
              <a:rPr sz="1200" b="0">
                <a:solidFill>
                  <a:srgbClr val="1A1A2E"/>
                </a:solidFill>
              </a:rPr>
              <a:t>  – Highlight research gaps and provide a foundation for future empirical work</a:t>
            </a:r>
          </a:p>
          <a:p>
            <a:pPr>
              <a:spcBef>
                <a:spcPts val="400"/>
              </a:spcBef>
            </a:pPr>
            <a:r>
              <a:rPr sz="1400" b="1">
                <a:solidFill>
                  <a:srgbClr val="1B355E"/>
                </a:solidFill>
              </a:rPr>
              <a:t>◆ Research Question</a:t>
            </a:r>
          </a:p>
          <a:p>
            <a:pPr lvl="1">
              <a:spcBef>
                <a:spcPts val="200"/>
              </a:spcBef>
            </a:pPr>
            <a:r>
              <a:rPr sz="1200" b="0">
                <a:solidFill>
                  <a:srgbClr val="1A1A2E"/>
                </a:solidFill>
              </a:rPr>
              <a:t>  – How do institutional quality, trade openness, FDI inflows, financial depth, and GDP growth interact to shape sustainability in Hi-SEM?</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Pyramid diagram – Research Problem → Objectives → Research Questions</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Objectives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5</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PRISMA Methodology</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PRISMA 2020 Framework – Preferred Reporting Items for Systematic Reviews and Meta-Analyses</a:t>
            </a:r>
          </a:p>
          <a:p>
            <a:pPr>
              <a:spcBef>
                <a:spcPts val="400"/>
              </a:spcBef>
            </a:pPr>
            <a:r>
              <a:rPr sz="1400" b="1">
                <a:solidFill>
                  <a:srgbClr val="1B355E"/>
                </a:solidFill>
              </a:rPr>
              <a:t>◆ Identification Phase</a:t>
            </a:r>
          </a:p>
          <a:p>
            <a:pPr lvl="1">
              <a:spcBef>
                <a:spcPts val="200"/>
              </a:spcBef>
            </a:pPr>
            <a:r>
              <a:rPr sz="1200" b="0">
                <a:solidFill>
                  <a:srgbClr val="1A1A2E"/>
                </a:solidFill>
              </a:rPr>
              <a:t>  – Databases searched: JSTOR, EconLit, Scopus, Web of Science, Google Scholar</a:t>
            </a:r>
          </a:p>
          <a:p>
            <a:pPr lvl="1">
              <a:spcBef>
                <a:spcPts val="200"/>
              </a:spcBef>
            </a:pPr>
            <a:r>
              <a:rPr sz="1200" b="0">
                <a:solidFill>
                  <a:srgbClr val="1A1A2E"/>
                </a:solidFill>
              </a:rPr>
              <a:t>  – Initial records retrieved: 312 | Duplicates removed: 74  →  238 screened</a:t>
            </a:r>
          </a:p>
          <a:p>
            <a:pPr>
              <a:spcBef>
                <a:spcPts val="400"/>
              </a:spcBef>
            </a:pPr>
            <a:r>
              <a:rPr sz="1400" b="1">
                <a:solidFill>
                  <a:srgbClr val="1B355E"/>
                </a:solidFill>
              </a:rPr>
              <a:t>◆ Screening Phase</a:t>
            </a:r>
          </a:p>
          <a:p>
            <a:pPr lvl="1">
              <a:spcBef>
                <a:spcPts val="200"/>
              </a:spcBef>
            </a:pPr>
            <a:r>
              <a:rPr sz="1200" b="0">
                <a:solidFill>
                  <a:srgbClr val="1A1A2E"/>
                </a:solidFill>
              </a:rPr>
              <a:t>  – Title &amp; abstract screening: 238  →  102 eligible for full-text review</a:t>
            </a:r>
          </a:p>
          <a:p>
            <a:pPr lvl="1">
              <a:spcBef>
                <a:spcPts val="200"/>
              </a:spcBef>
            </a:pPr>
            <a:r>
              <a:rPr sz="1200" b="0">
                <a:solidFill>
                  <a:srgbClr val="1A1A2E"/>
                </a:solidFill>
              </a:rPr>
              <a:t>  – Exclusion criteria: non-empirical studies, outside 1991–1997 window, no Hi-SEM context</a:t>
            </a:r>
          </a:p>
          <a:p>
            <a:pPr>
              <a:spcBef>
                <a:spcPts val="400"/>
              </a:spcBef>
            </a:pPr>
            <a:r>
              <a:rPr sz="1400" b="1">
                <a:solidFill>
                  <a:srgbClr val="1B355E"/>
                </a:solidFill>
              </a:rPr>
              <a:t>◆ Eligibility Phase</a:t>
            </a:r>
          </a:p>
          <a:p>
            <a:pPr lvl="1">
              <a:spcBef>
                <a:spcPts val="200"/>
              </a:spcBef>
            </a:pPr>
            <a:r>
              <a:rPr sz="1200" b="0">
                <a:solidFill>
                  <a:srgbClr val="1A1A2E"/>
                </a:solidFill>
              </a:rPr>
              <a:t>  – Full-text assessed: 102  →  42 passed quality appraisal</a:t>
            </a:r>
          </a:p>
          <a:p>
            <a:pPr>
              <a:spcBef>
                <a:spcPts val="400"/>
              </a:spcBef>
            </a:pPr>
            <a:r>
              <a:rPr sz="1400" b="1">
                <a:solidFill>
                  <a:srgbClr val="1B355E"/>
                </a:solidFill>
              </a:rPr>
              <a:t>◆ Included Phase</a:t>
            </a:r>
          </a:p>
          <a:p>
            <a:pPr lvl="1">
              <a:spcBef>
                <a:spcPts val="200"/>
              </a:spcBef>
            </a:pPr>
            <a:r>
              <a:rPr sz="1200" b="0">
                <a:solidFill>
                  <a:srgbClr val="1A1A2E"/>
                </a:solidFill>
              </a:rPr>
              <a:t>  – Final corpus: 30 studies meeting all inclusion criteria</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Insert PRISMA 2020 flow diagram (4-box funnel: 312 → 238 → 102 → 30)</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Methodology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6</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Literature Review – Study Snapshot</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30 empirical studies reviewed across Hi-SEM economies (Asia, LatAm, Africa, Transition Economies)</a:t>
            </a:r>
          </a:p>
          <a:p>
            <a:pPr>
              <a:spcBef>
                <a:spcPts val="400"/>
              </a:spcBef>
            </a:pPr>
            <a:r>
              <a:rPr sz="1400" b="1">
                <a:solidFill>
                  <a:srgbClr val="1B355E"/>
                </a:solidFill>
              </a:rPr>
              <a:t>◆ Publication period: 1991–1997  |  Methods: OLS, Panel Data, VAR, Cointegration</a:t>
            </a:r>
          </a:p>
          <a:p>
            <a:pPr>
              <a:spcBef>
                <a:spcPts val="400"/>
              </a:spcBef>
            </a:pPr>
            <a:r>
              <a:rPr sz="1400" b="1">
                <a:solidFill>
                  <a:srgbClr val="1B355E"/>
                </a:solidFill>
              </a:rPr>
              <a:t>◆ Geographic distribution of studies</a:t>
            </a:r>
          </a:p>
          <a:p>
            <a:pPr lvl="1">
              <a:spcBef>
                <a:spcPts val="200"/>
              </a:spcBef>
            </a:pPr>
            <a:r>
              <a:rPr sz="1200" b="0">
                <a:solidFill>
                  <a:srgbClr val="1A1A2E"/>
                </a:solidFill>
              </a:rPr>
              <a:t>  – Asia (incl. South &amp; SE Asia): 12 studies  (40%)</a:t>
            </a:r>
          </a:p>
          <a:p>
            <a:pPr lvl="1">
              <a:spcBef>
                <a:spcPts val="200"/>
              </a:spcBef>
            </a:pPr>
            <a:r>
              <a:rPr sz="1200" b="0">
                <a:solidFill>
                  <a:srgbClr val="1A1A2E"/>
                </a:solidFill>
              </a:rPr>
              <a:t>  – Latin America: 8 studies  (27%)</a:t>
            </a:r>
          </a:p>
          <a:p>
            <a:pPr lvl="1">
              <a:spcBef>
                <a:spcPts val="200"/>
              </a:spcBef>
            </a:pPr>
            <a:r>
              <a:rPr sz="1200" b="0">
                <a:solidFill>
                  <a:srgbClr val="1A1A2E"/>
                </a:solidFill>
              </a:rPr>
              <a:t>  – Sub-Saharan Africa: 6 studies  (20%)</a:t>
            </a:r>
          </a:p>
          <a:p>
            <a:pPr lvl="1">
              <a:spcBef>
                <a:spcPts val="200"/>
              </a:spcBef>
            </a:pPr>
            <a:r>
              <a:rPr sz="1200" b="0">
                <a:solidFill>
                  <a:srgbClr val="1A1A2E"/>
                </a:solidFill>
              </a:rPr>
              <a:t>  – Transition Economies (E. Europe, CIS): 4 studies  (13%)</a:t>
            </a:r>
          </a:p>
          <a:p>
            <a:pPr>
              <a:spcBef>
                <a:spcPts val="400"/>
              </a:spcBef>
            </a:pPr>
            <a:r>
              <a:rPr sz="1400" b="1">
                <a:solidFill>
                  <a:srgbClr val="1B355E"/>
                </a:solidFill>
              </a:rPr>
              <a:t>◆ Most cited theoretical frameworks: Environmental Kuznets Curve (EKC), Pollution Haven Hypothesis, Institutional Theory</a:t>
            </a:r>
          </a:p>
          <a:p>
            <a:pPr>
              <a:spcBef>
                <a:spcPts val="400"/>
              </a:spcBef>
            </a:pPr>
            <a:r>
              <a:rPr sz="1400" b="1">
                <a:solidFill>
                  <a:srgbClr val="1B355E"/>
                </a:solidFill>
              </a:rPr>
              <a:t>◆ Dependent variables: CO₂ emissions, Environmental Degradation Index, Green Investment ratio</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Donut/pie chart – geographic distribution of 30 studies</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Literature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7</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Top 5 Economic Factors Identified</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① GDP Growth Rate  (cited in 26 / 30 studies)</a:t>
            </a:r>
          </a:p>
          <a:p>
            <a:pPr lvl="1">
              <a:spcBef>
                <a:spcPts val="200"/>
              </a:spcBef>
            </a:pPr>
            <a:r>
              <a:rPr sz="1200" b="0">
                <a:solidFill>
                  <a:srgbClr val="1A1A2E"/>
                </a:solidFill>
              </a:rPr>
              <a:t>  – Higher GDP growth generally correlates with short-term environmental degradation in Hi-SEM</a:t>
            </a:r>
          </a:p>
          <a:p>
            <a:pPr lvl="1">
              <a:spcBef>
                <a:spcPts val="200"/>
              </a:spcBef>
            </a:pPr>
            <a:r>
              <a:rPr sz="1200" b="0">
                <a:solidFill>
                  <a:srgbClr val="1A1A2E"/>
                </a:solidFill>
              </a:rPr>
              <a:t>  – Long-run EKC turning point observed in upper-middle income countries only</a:t>
            </a:r>
          </a:p>
          <a:p>
            <a:pPr>
              <a:spcBef>
                <a:spcPts val="400"/>
              </a:spcBef>
            </a:pPr>
            <a:r>
              <a:rPr sz="1400" b="1">
                <a:solidFill>
                  <a:srgbClr val="1B355E"/>
                </a:solidFill>
              </a:rPr>
              <a:t>◆ ② Financial Development &amp; Depth  (cited in 22 / 30 studies)</a:t>
            </a:r>
          </a:p>
          <a:p>
            <a:pPr lvl="1">
              <a:spcBef>
                <a:spcPts val="200"/>
              </a:spcBef>
            </a:pPr>
            <a:r>
              <a:rPr sz="1200" b="0">
                <a:solidFill>
                  <a:srgbClr val="1A1A2E"/>
                </a:solidFill>
              </a:rPr>
              <a:t>  – Deeper credit markets facilitate green investment; weak financial systems create sustainability deficits</a:t>
            </a:r>
          </a:p>
          <a:p>
            <a:pPr>
              <a:spcBef>
                <a:spcPts val="400"/>
              </a:spcBef>
            </a:pPr>
            <a:r>
              <a:rPr sz="1400" b="1">
                <a:solidFill>
                  <a:srgbClr val="1B355E"/>
                </a:solidFill>
              </a:rPr>
              <a:t>◆ ③ Trade Openness &amp; FDI Inflows  (cited in 21 / 30 studies)</a:t>
            </a:r>
          </a:p>
          <a:p>
            <a:pPr lvl="1">
              <a:spcBef>
                <a:spcPts val="200"/>
              </a:spcBef>
            </a:pPr>
            <a:r>
              <a:rPr sz="1200" b="0">
                <a:solidFill>
                  <a:srgbClr val="1A1A2E"/>
                </a:solidFill>
              </a:rPr>
              <a:t>  – FDI associated with technology transfer &amp; efficiency gains, but also pollution-haven effects</a:t>
            </a:r>
          </a:p>
          <a:p>
            <a:pPr>
              <a:spcBef>
                <a:spcPts val="400"/>
              </a:spcBef>
            </a:pPr>
            <a:r>
              <a:rPr sz="1400" b="1">
                <a:solidFill>
                  <a:srgbClr val="1B355E"/>
                </a:solidFill>
              </a:rPr>
              <a:t>◆ ④ Institutional Quality &amp; Governance  (cited in 18 / 30 studies)</a:t>
            </a:r>
          </a:p>
          <a:p>
            <a:pPr lvl="1">
              <a:spcBef>
                <a:spcPts val="200"/>
              </a:spcBef>
            </a:pPr>
            <a:r>
              <a:rPr sz="1200" b="0">
                <a:solidFill>
                  <a:srgbClr val="1A1A2E"/>
                </a:solidFill>
              </a:rPr>
              <a:t>  – Rule of law, corruption control, and property rights are strong predictors of environmental compliance</a:t>
            </a:r>
          </a:p>
          <a:p>
            <a:pPr>
              <a:spcBef>
                <a:spcPts val="400"/>
              </a:spcBef>
            </a:pPr>
            <a:r>
              <a:rPr sz="1400" b="1">
                <a:solidFill>
                  <a:srgbClr val="1B355E"/>
                </a:solidFill>
              </a:rPr>
              <a:t>◆ ⑤ Urbanisation &amp; Structural Transformation  (cited in 15 / 30 studies)</a:t>
            </a:r>
          </a:p>
          <a:p>
            <a:pPr lvl="1">
              <a:spcBef>
                <a:spcPts val="200"/>
              </a:spcBef>
            </a:pPr>
            <a:r>
              <a:rPr sz="1200" b="0">
                <a:solidFill>
                  <a:srgbClr val="1A1A2E"/>
                </a:solidFill>
              </a:rPr>
              <a:t>  – Rapid urban growth exacerbates resource consumption; structural shift to services reduces intensity</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Horizontal bar chart ranking the 5 factors by citation frequency</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Economic Factors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8</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Key Variables Analysis</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Independent Variables (most recurring across 30 studies)</a:t>
            </a:r>
          </a:p>
          <a:p>
            <a:pPr lvl="1">
              <a:spcBef>
                <a:spcPts val="200"/>
              </a:spcBef>
            </a:pPr>
            <a:r>
              <a:rPr sz="1200" b="0">
                <a:solidFill>
                  <a:srgbClr val="1A1A2E"/>
                </a:solidFill>
              </a:rPr>
              <a:t>  – GDP per capita (PPP) – proxy for economic development stage</a:t>
            </a:r>
          </a:p>
          <a:p>
            <a:pPr lvl="1">
              <a:spcBef>
                <a:spcPts val="200"/>
              </a:spcBef>
            </a:pPr>
            <a:r>
              <a:rPr sz="1200" b="0">
                <a:solidFill>
                  <a:srgbClr val="1A1A2E"/>
                </a:solidFill>
              </a:rPr>
              <a:t>  – Domestic credit to private sector (% of GDP) – financial depth proxy</a:t>
            </a:r>
          </a:p>
          <a:p>
            <a:pPr lvl="1">
              <a:spcBef>
                <a:spcPts val="200"/>
              </a:spcBef>
            </a:pPr>
            <a:r>
              <a:rPr sz="1200" b="0">
                <a:solidFill>
                  <a:srgbClr val="1A1A2E"/>
                </a:solidFill>
              </a:rPr>
              <a:t>  – FDI net inflows (% of GDP) – globalisation &amp; capital access</a:t>
            </a:r>
          </a:p>
          <a:p>
            <a:pPr lvl="1">
              <a:spcBef>
                <a:spcPts val="200"/>
              </a:spcBef>
            </a:pPr>
            <a:r>
              <a:rPr sz="1200" b="0">
                <a:solidFill>
                  <a:srgbClr val="1A1A2E"/>
                </a:solidFill>
              </a:rPr>
              <a:t>  – Trade openness index (Exports + Imports / GDP)</a:t>
            </a:r>
          </a:p>
          <a:p>
            <a:pPr lvl="1">
              <a:spcBef>
                <a:spcPts val="200"/>
              </a:spcBef>
            </a:pPr>
            <a:r>
              <a:rPr sz="1200" b="0">
                <a:solidFill>
                  <a:srgbClr val="1A1A2E"/>
                </a:solidFill>
              </a:rPr>
              <a:t>  – Corruption Perception / Rule-of-Law index</a:t>
            </a:r>
          </a:p>
          <a:p>
            <a:pPr>
              <a:spcBef>
                <a:spcPts val="400"/>
              </a:spcBef>
            </a:pPr>
            <a:r>
              <a:rPr sz="1400" b="1">
                <a:solidFill>
                  <a:srgbClr val="1B355E"/>
                </a:solidFill>
              </a:rPr>
              <a:t>◆ Dependent Variables (sustainability proxies)</a:t>
            </a:r>
          </a:p>
          <a:p>
            <a:pPr lvl="1">
              <a:spcBef>
                <a:spcPts val="200"/>
              </a:spcBef>
            </a:pPr>
            <a:r>
              <a:rPr sz="1200" b="0">
                <a:solidFill>
                  <a:srgbClr val="1A1A2E"/>
                </a:solidFill>
              </a:rPr>
              <a:t>  – CO₂ emissions per capita (tonnes)</a:t>
            </a:r>
          </a:p>
          <a:p>
            <a:pPr lvl="1">
              <a:spcBef>
                <a:spcPts val="200"/>
              </a:spcBef>
            </a:pPr>
            <a:r>
              <a:rPr sz="1200" b="0">
                <a:solidFill>
                  <a:srgbClr val="1A1A2E"/>
                </a:solidFill>
              </a:rPr>
              <a:t>  – Energy intensity (kg oil equivalent per $1,000 GDP)</a:t>
            </a:r>
          </a:p>
          <a:p>
            <a:pPr lvl="1">
              <a:spcBef>
                <a:spcPts val="200"/>
              </a:spcBef>
            </a:pPr>
            <a:r>
              <a:rPr sz="1200" b="0">
                <a:solidFill>
                  <a:srgbClr val="1A1A2E"/>
                </a:solidFill>
              </a:rPr>
              <a:t>  – Green / environmental investment ratio</a:t>
            </a:r>
          </a:p>
          <a:p>
            <a:pPr>
              <a:spcBef>
                <a:spcPts val="400"/>
              </a:spcBef>
            </a:pPr>
            <a:r>
              <a:rPr sz="1400" b="1">
                <a:solidFill>
                  <a:srgbClr val="1B355E"/>
                </a:solidFill>
              </a:rPr>
              <a:t>◆ Key Moderating Variables</a:t>
            </a:r>
          </a:p>
          <a:p>
            <a:pPr lvl="1">
              <a:spcBef>
                <a:spcPts val="200"/>
              </a:spcBef>
            </a:pPr>
            <a:r>
              <a:rPr sz="1200" b="0">
                <a:solidFill>
                  <a:srgbClr val="1A1A2E"/>
                </a:solidFill>
              </a:rPr>
              <a:t>  – Governance quality (institutional framework)</a:t>
            </a:r>
          </a:p>
          <a:p>
            <a:pPr lvl="1">
              <a:spcBef>
                <a:spcPts val="200"/>
              </a:spcBef>
            </a:pPr>
            <a:r>
              <a:rPr sz="1200" b="0">
                <a:solidFill>
                  <a:srgbClr val="1A1A2E"/>
                </a:solidFill>
              </a:rPr>
              <a:t>  – Market structure (state vs. market-led economy)</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Two-column table (Independent vs Dependent variables) or a conceptual model diagram</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Variables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9</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Hi-SEM Mapping</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Hi-SEM = High-Impact Socio-Economic Market Framework</a:t>
            </a:r>
          </a:p>
          <a:p>
            <a:pPr lvl="1">
              <a:spcBef>
                <a:spcPts val="200"/>
              </a:spcBef>
            </a:pPr>
            <a:r>
              <a:rPr sz="1200" b="0">
                <a:solidFill>
                  <a:srgbClr val="1A1A2E"/>
                </a:solidFill>
              </a:rPr>
              <a:t>  – Integrates macro-economic, institutional, and social dimensions of sustainability</a:t>
            </a:r>
          </a:p>
          <a:p>
            <a:pPr>
              <a:spcBef>
                <a:spcPts val="400"/>
              </a:spcBef>
            </a:pPr>
            <a:r>
              <a:rPr sz="1400" b="1">
                <a:solidFill>
                  <a:srgbClr val="1B355E"/>
                </a:solidFill>
              </a:rPr>
              <a:t>◆ Mapping Dimension 1: Economic Pillar</a:t>
            </a:r>
          </a:p>
          <a:p>
            <a:pPr lvl="1">
              <a:spcBef>
                <a:spcPts val="200"/>
              </a:spcBef>
            </a:pPr>
            <a:r>
              <a:rPr sz="1200" b="0">
                <a:solidFill>
                  <a:srgbClr val="1A1A2E"/>
                </a:solidFill>
              </a:rPr>
              <a:t>  – GDP growth &amp; financial depth → Primary drivers of resource allocation for sustainability</a:t>
            </a:r>
          </a:p>
          <a:p>
            <a:pPr lvl="1">
              <a:spcBef>
                <a:spcPts val="200"/>
              </a:spcBef>
            </a:pPr>
            <a:r>
              <a:rPr sz="1200" b="0">
                <a:solidFill>
                  <a:srgbClr val="1A1A2E"/>
                </a:solidFill>
              </a:rPr>
              <a:t>  – Trade openness acts as a transmission channel for international sustainability norms</a:t>
            </a:r>
          </a:p>
          <a:p>
            <a:pPr>
              <a:spcBef>
                <a:spcPts val="400"/>
              </a:spcBef>
            </a:pPr>
            <a:r>
              <a:rPr sz="1400" b="1">
                <a:solidFill>
                  <a:srgbClr val="1B355E"/>
                </a:solidFill>
              </a:rPr>
              <a:t>◆ Mapping Dimension 2: Institutional Pillar</a:t>
            </a:r>
          </a:p>
          <a:p>
            <a:pPr lvl="1">
              <a:spcBef>
                <a:spcPts val="200"/>
              </a:spcBef>
            </a:pPr>
            <a:r>
              <a:rPr sz="1200" b="0">
                <a:solidFill>
                  <a:srgbClr val="1A1A2E"/>
                </a:solidFill>
              </a:rPr>
              <a:t>  – Governance quality moderates market failures and enables regulatory compliance</a:t>
            </a:r>
          </a:p>
          <a:p>
            <a:pPr lvl="1">
              <a:spcBef>
                <a:spcPts val="200"/>
              </a:spcBef>
            </a:pPr>
            <a:r>
              <a:rPr sz="1200" b="0">
                <a:solidFill>
                  <a:srgbClr val="1A1A2E"/>
                </a:solidFill>
              </a:rPr>
              <a:t>  – Property rights &amp; rule of law underpin long-term environmental investment incentives</a:t>
            </a:r>
          </a:p>
          <a:p>
            <a:pPr>
              <a:spcBef>
                <a:spcPts val="400"/>
              </a:spcBef>
            </a:pPr>
            <a:r>
              <a:rPr sz="1400" b="1">
                <a:solidFill>
                  <a:srgbClr val="1B355E"/>
                </a:solidFill>
              </a:rPr>
              <a:t>◆ Mapping Dimension 3: Socio-Structural Pillar</a:t>
            </a:r>
          </a:p>
          <a:p>
            <a:pPr lvl="1">
              <a:spcBef>
                <a:spcPts val="200"/>
              </a:spcBef>
            </a:pPr>
            <a:r>
              <a:rPr sz="1200" b="0">
                <a:solidFill>
                  <a:srgbClr val="1A1A2E"/>
                </a:solidFill>
              </a:rPr>
              <a:t>  – Urbanisation and structural transformation determine sectoral sustainability trajectories</a:t>
            </a:r>
          </a:p>
          <a:p>
            <a:pPr>
              <a:spcBef>
                <a:spcPts val="400"/>
              </a:spcBef>
            </a:pPr>
            <a:r>
              <a:rPr sz="1400" b="1">
                <a:solidFill>
                  <a:srgbClr val="1B355E"/>
                </a:solidFill>
              </a:rPr>
              <a:t>◆ Hi-SEM Insight: Sustainability is maximised when all three pillars align simultaneously</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Three interlocking circles (Venn diagram) – Economic | Institutional | Socio-Structural; Hi-SEM at centre</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Hi-SEM Mapping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10</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Key Findings &amp; Discussion</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Finding 1 – EKC Hypothesis partially supported</a:t>
            </a:r>
          </a:p>
          <a:p>
            <a:pPr lvl="1">
              <a:spcBef>
                <a:spcPts val="200"/>
              </a:spcBef>
            </a:pPr>
            <a:r>
              <a:rPr sz="1200" b="0">
                <a:solidFill>
                  <a:srgbClr val="1A1A2E"/>
                </a:solidFill>
              </a:rPr>
              <a:t>  – Income-sustainability turning point visible only in upper-middle income Hi-SEM (e.g., Malaysia, Brazil)</a:t>
            </a:r>
          </a:p>
          <a:p>
            <a:pPr>
              <a:spcBef>
                <a:spcPts val="400"/>
              </a:spcBef>
            </a:pPr>
            <a:r>
              <a:rPr sz="1400" b="1">
                <a:solidFill>
                  <a:srgbClr val="1B355E"/>
                </a:solidFill>
              </a:rPr>
              <a:t>◆ Finding 2 – Financial depth is a critical enabler</a:t>
            </a:r>
          </a:p>
          <a:p>
            <a:pPr lvl="1">
              <a:spcBef>
                <a:spcPts val="200"/>
              </a:spcBef>
            </a:pPr>
            <a:r>
              <a:rPr sz="1200" b="0">
                <a:solidFill>
                  <a:srgbClr val="1A1A2E"/>
                </a:solidFill>
              </a:rPr>
              <a:t>  – Countries with deeper capital markets (credit-to-GDP &gt; 40%) show 18–25% higher green investment ratios</a:t>
            </a:r>
          </a:p>
          <a:p>
            <a:pPr>
              <a:spcBef>
                <a:spcPts val="400"/>
              </a:spcBef>
            </a:pPr>
            <a:r>
              <a:rPr sz="1400" b="1">
                <a:solidFill>
                  <a:srgbClr val="1B355E"/>
                </a:solidFill>
              </a:rPr>
              <a:t>◆ Finding 3 – FDI has a conditional effect</a:t>
            </a:r>
          </a:p>
          <a:p>
            <a:pPr lvl="1">
              <a:spcBef>
                <a:spcPts val="200"/>
              </a:spcBef>
            </a:pPr>
            <a:r>
              <a:rPr sz="1200" b="0">
                <a:solidFill>
                  <a:srgbClr val="1A1A2E"/>
                </a:solidFill>
              </a:rPr>
              <a:t>  – Technology-intensive FDI improves sustainability; resource-extractive FDI worsens it</a:t>
            </a:r>
          </a:p>
          <a:p>
            <a:pPr>
              <a:spcBef>
                <a:spcPts val="400"/>
              </a:spcBef>
            </a:pPr>
            <a:r>
              <a:rPr sz="1400" b="1">
                <a:solidFill>
                  <a:srgbClr val="1B355E"/>
                </a:solidFill>
              </a:rPr>
              <a:t>◆ Finding 4 – Governance is the strongest moderator</a:t>
            </a:r>
          </a:p>
          <a:p>
            <a:pPr lvl="1">
              <a:spcBef>
                <a:spcPts val="200"/>
              </a:spcBef>
            </a:pPr>
            <a:r>
              <a:rPr sz="1200" b="0">
                <a:solidFill>
                  <a:srgbClr val="1A1A2E"/>
                </a:solidFill>
              </a:rPr>
              <a:t>  – A 1-unit rise in rule-of-law index associated with ~12% reduction in CO₂ intensity (panel studies)</a:t>
            </a:r>
          </a:p>
          <a:p>
            <a:pPr>
              <a:spcBef>
                <a:spcPts val="400"/>
              </a:spcBef>
            </a:pPr>
            <a:r>
              <a:rPr sz="1400" b="1">
                <a:solidFill>
                  <a:srgbClr val="1B355E"/>
                </a:solidFill>
              </a:rPr>
              <a:t>◆ Finding 5 – Urbanisation effect is non-linear</a:t>
            </a:r>
          </a:p>
          <a:p>
            <a:pPr lvl="1">
              <a:spcBef>
                <a:spcPts val="200"/>
              </a:spcBef>
            </a:pPr>
            <a:r>
              <a:rPr sz="1200" b="0">
                <a:solidFill>
                  <a:srgbClr val="1A1A2E"/>
                </a:solidFill>
              </a:rPr>
              <a:t>  – Early urbanisation (0–40% urban) degrades sustainability; mature urbanisation (&gt;60%) correlates with improvement</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2x3 icon grid with one icon per finding; or spider/radar chart comparing Hi-SEM regions</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Findings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11</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Limitations of the Study</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Publication Bias</a:t>
            </a:r>
          </a:p>
          <a:p>
            <a:pPr lvl="1">
              <a:spcBef>
                <a:spcPts val="200"/>
              </a:spcBef>
            </a:pPr>
            <a:r>
              <a:rPr sz="1200" b="0">
                <a:solidFill>
                  <a:srgbClr val="1A1A2E"/>
                </a:solidFill>
              </a:rPr>
              <a:t>  – Studies with significant results are more likely to be published; null findings may be under-represented</a:t>
            </a:r>
          </a:p>
          <a:p>
            <a:pPr>
              <a:spcBef>
                <a:spcPts val="400"/>
              </a:spcBef>
            </a:pPr>
            <a:r>
              <a:rPr sz="1400" b="1">
                <a:solidFill>
                  <a:srgbClr val="1B355E"/>
                </a:solidFill>
              </a:rPr>
              <a:t>◆ Data Quality &amp; Comparability</a:t>
            </a:r>
          </a:p>
          <a:p>
            <a:pPr lvl="1">
              <a:spcBef>
                <a:spcPts val="200"/>
              </a:spcBef>
            </a:pPr>
            <a:r>
              <a:rPr sz="1200" b="0">
                <a:solidFill>
                  <a:srgbClr val="1A1A2E"/>
                </a:solidFill>
              </a:rPr>
              <a:t>  – Heterogeneity in measurement of 'sustainability' across studies limits direct comparability</a:t>
            </a:r>
          </a:p>
          <a:p>
            <a:pPr lvl="1">
              <a:spcBef>
                <a:spcPts val="200"/>
              </a:spcBef>
            </a:pPr>
            <a:r>
              <a:rPr sz="1200" b="0">
                <a:solidFill>
                  <a:srgbClr val="1A1A2E"/>
                </a:solidFill>
              </a:rPr>
              <a:t>  – 1991–1997 data relies on early national accounts systems with lower reliability</a:t>
            </a:r>
          </a:p>
          <a:p>
            <a:pPr>
              <a:spcBef>
                <a:spcPts val="400"/>
              </a:spcBef>
            </a:pPr>
            <a:r>
              <a:rPr sz="1400" b="1">
                <a:solidFill>
                  <a:srgbClr val="1B355E"/>
                </a:solidFill>
              </a:rPr>
              <a:t>◆ Geographic Concentration</a:t>
            </a:r>
          </a:p>
          <a:p>
            <a:pPr lvl="1">
              <a:spcBef>
                <a:spcPts val="200"/>
              </a:spcBef>
            </a:pPr>
            <a:r>
              <a:rPr sz="1200" b="0">
                <a:solidFill>
                  <a:srgbClr val="1A1A2E"/>
                </a:solidFill>
              </a:rPr>
              <a:t>  – Asian studies dominate the corpus (40%); findings may not generalise uniformly to Africa &amp; LatAm</a:t>
            </a:r>
          </a:p>
          <a:p>
            <a:pPr>
              <a:spcBef>
                <a:spcPts val="400"/>
              </a:spcBef>
            </a:pPr>
            <a:r>
              <a:rPr sz="1400" b="1">
                <a:solidFill>
                  <a:srgbClr val="1B355E"/>
                </a:solidFill>
              </a:rPr>
              <a:t>◆ Temporal Boundary</a:t>
            </a:r>
          </a:p>
          <a:p>
            <a:pPr lvl="1">
              <a:spcBef>
                <a:spcPts val="200"/>
              </a:spcBef>
            </a:pPr>
            <a:r>
              <a:rPr sz="1200" b="0">
                <a:solidFill>
                  <a:srgbClr val="1A1A2E"/>
                </a:solidFill>
              </a:rPr>
              <a:t>  – Excludes post-1997 developments (Asian financial crisis, Kyoto Protocol) that reshaped the landscape</a:t>
            </a:r>
          </a:p>
          <a:p>
            <a:pPr>
              <a:spcBef>
                <a:spcPts val="400"/>
              </a:spcBef>
            </a:pPr>
            <a:r>
              <a:rPr sz="1400" b="1">
                <a:solidFill>
                  <a:srgbClr val="1B355E"/>
                </a:solidFill>
              </a:rPr>
              <a:t>◆ Methodological Diversity</a:t>
            </a:r>
          </a:p>
          <a:p>
            <a:pPr lvl="1">
              <a:spcBef>
                <a:spcPts val="200"/>
              </a:spcBef>
            </a:pPr>
            <a:r>
              <a:rPr sz="1200" b="0">
                <a:solidFill>
                  <a:srgbClr val="1A1A2E"/>
                </a:solidFill>
              </a:rPr>
              <a:t>  – Mixing OLS, panel GMM, and cointegration results introduces comparison challenges</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Limitation icons grid (5 icons for 5 limitation categories)</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Limitations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12</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Conclusion &amp; Implications</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Theoretical Contribution</a:t>
            </a:r>
          </a:p>
          <a:p>
            <a:pPr lvl="1">
              <a:spcBef>
                <a:spcPts val="200"/>
              </a:spcBef>
            </a:pPr>
            <a:r>
              <a:rPr sz="1200" b="0">
                <a:solidFill>
                  <a:srgbClr val="1A1A2E"/>
                </a:solidFill>
              </a:rPr>
              <a:t>  – Provides the first PRISMA-based synthesis of economic determinants in Hi-SEM (1991–1997)</a:t>
            </a:r>
          </a:p>
          <a:p>
            <a:pPr lvl="1">
              <a:spcBef>
                <a:spcPts val="200"/>
              </a:spcBef>
            </a:pPr>
            <a:r>
              <a:rPr sz="1200" b="0">
                <a:solidFill>
                  <a:srgbClr val="1A1A2E"/>
                </a:solidFill>
              </a:rPr>
              <a:t>  – Extends the Hi-SEM framework by integrating financial and institutional dimensions</a:t>
            </a:r>
          </a:p>
          <a:p>
            <a:pPr>
              <a:spcBef>
                <a:spcPts val="400"/>
              </a:spcBef>
            </a:pPr>
            <a:r>
              <a:rPr sz="1400" b="1">
                <a:solidFill>
                  <a:srgbClr val="1B355E"/>
                </a:solidFill>
              </a:rPr>
              <a:t>◆ Practical Implications – Policymakers</a:t>
            </a:r>
          </a:p>
          <a:p>
            <a:pPr lvl="1">
              <a:spcBef>
                <a:spcPts val="200"/>
              </a:spcBef>
            </a:pPr>
            <a:r>
              <a:rPr sz="1200" b="0">
                <a:solidFill>
                  <a:srgbClr val="1A1A2E"/>
                </a:solidFill>
              </a:rPr>
              <a:t>  – Prioritise financial sector deepening and institutional reform as sustainability catalysts</a:t>
            </a:r>
          </a:p>
          <a:p>
            <a:pPr lvl="1">
              <a:spcBef>
                <a:spcPts val="200"/>
              </a:spcBef>
            </a:pPr>
            <a:r>
              <a:rPr sz="1200" b="0">
                <a:solidFill>
                  <a:srgbClr val="1A1A2E"/>
                </a:solidFill>
              </a:rPr>
              <a:t>  – Design FDI policy to attract technology-intensive, not extractive, capital</a:t>
            </a:r>
          </a:p>
          <a:p>
            <a:pPr>
              <a:spcBef>
                <a:spcPts val="400"/>
              </a:spcBef>
            </a:pPr>
            <a:r>
              <a:rPr sz="1400" b="1">
                <a:solidFill>
                  <a:srgbClr val="1B355E"/>
                </a:solidFill>
              </a:rPr>
              <a:t>◆ Practical Implications – Corporations</a:t>
            </a:r>
          </a:p>
          <a:p>
            <a:pPr lvl="1">
              <a:spcBef>
                <a:spcPts val="200"/>
              </a:spcBef>
            </a:pPr>
            <a:r>
              <a:rPr sz="1200" b="0">
                <a:solidFill>
                  <a:srgbClr val="1A1A2E"/>
                </a:solidFill>
              </a:rPr>
              <a:t>  – ESG strategies in Hi-SEM must account for institutional context, not just environmental metrics</a:t>
            </a:r>
          </a:p>
          <a:p>
            <a:pPr>
              <a:spcBef>
                <a:spcPts val="400"/>
              </a:spcBef>
            </a:pPr>
            <a:r>
              <a:rPr sz="1400" b="1">
                <a:solidFill>
                  <a:srgbClr val="1B355E"/>
                </a:solidFill>
              </a:rPr>
              <a:t>◆ Future Research Agenda</a:t>
            </a:r>
          </a:p>
          <a:p>
            <a:pPr lvl="1">
              <a:spcBef>
                <a:spcPts val="200"/>
              </a:spcBef>
            </a:pPr>
            <a:r>
              <a:rPr sz="1200" b="0">
                <a:solidFill>
                  <a:srgbClr val="1A1A2E"/>
                </a:solidFill>
              </a:rPr>
              <a:t>  – Extend review to 1998–2010; incorporate Kyoto Protocol era studies</a:t>
            </a:r>
          </a:p>
          <a:p>
            <a:pPr lvl="1">
              <a:spcBef>
                <a:spcPts val="200"/>
              </a:spcBef>
            </a:pPr>
            <a:r>
              <a:rPr sz="1200" b="0">
                <a:solidFill>
                  <a:srgbClr val="1A1A2E"/>
                </a:solidFill>
              </a:rPr>
              <a:t>  – Conduct meta-regression to quantify effect sizes across studies</a:t>
            </a:r>
          </a:p>
          <a:p>
            <a:pPr lvl="1">
              <a:spcBef>
                <a:spcPts val="200"/>
              </a:spcBef>
            </a:pPr>
            <a:r>
              <a:rPr sz="1200" b="0">
                <a:solidFill>
                  <a:srgbClr val="1A1A2E"/>
                </a:solidFill>
              </a:rPr>
              <a:t>  – Test Hi-SEM mapping via primary cross-country panel data</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Split slide – Theory implications (left) vs Policy/Corporate implications (right)</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Conclusion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91440" cy="6784848"/>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 y="73152"/>
            <a:ext cx="9052560" cy="9144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37160"/>
            <a:ext cx="502920" cy="50292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B355E"/>
                </a:solidFill>
              </a:rPr>
              <a:t>13</a:t>
            </a:r>
          </a:p>
        </p:txBody>
      </p:sp>
      <p:sp>
        <p:nvSpPr>
          <p:cNvPr id="7" name="TextBox 6"/>
          <p:cNvSpPr txBox="1"/>
          <p:nvPr/>
        </p:nvSpPr>
        <p:spPr>
          <a:xfrm>
            <a:off x="228600" y="182880"/>
            <a:ext cx="8046720" cy="777240"/>
          </a:xfrm>
          <a:prstGeom prst="rect">
            <a:avLst/>
          </a:prstGeom>
          <a:noFill/>
        </p:spPr>
        <p:txBody>
          <a:bodyPr wrap="square">
            <a:spAutoFit/>
          </a:bodyPr>
          <a:lstStyle/>
          <a:p>
            <a:pPr algn="l"/>
            <a:r>
              <a:rPr sz="2000" b="1" i="0">
                <a:solidFill>
                  <a:srgbClr val="FFFFFF"/>
                </a:solidFill>
              </a:rPr>
              <a:t>References (Selected)</a:t>
            </a:r>
          </a:p>
        </p:txBody>
      </p:sp>
      <p:sp>
        <p:nvSpPr>
          <p:cNvPr id="8" name="Rectangle 7"/>
          <p:cNvSpPr/>
          <p:nvPr/>
        </p:nvSpPr>
        <p:spPr>
          <a:xfrm>
            <a:off x="91440" y="987552"/>
            <a:ext cx="905256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8686800" cy="5257800"/>
          </a:xfrm>
          <a:prstGeom prst="rect">
            <a:avLst/>
          </a:prstGeom>
          <a:noFill/>
        </p:spPr>
        <p:txBody>
          <a:bodyPr wrap="square">
            <a:spAutoFit/>
          </a:bodyPr>
          <a:lstStyle/>
          <a:p>
            <a:pPr>
              <a:spcBef>
                <a:spcPts val="400"/>
              </a:spcBef>
            </a:pPr>
            <a:r>
              <a:rPr sz="1400" b="1">
                <a:solidFill>
                  <a:srgbClr val="1B355E"/>
                </a:solidFill>
              </a:rPr>
              <a:t>◆ Grossman, G.M. &amp; Krueger, A.B. (1991). Environmental Impacts of a North American Free Trade Agreement. NBER Working Paper No. 3914.</a:t>
            </a:r>
          </a:p>
          <a:p>
            <a:pPr>
              <a:spcBef>
                <a:spcPts val="400"/>
              </a:spcBef>
            </a:pPr>
            <a:r>
              <a:rPr sz="1400" b="1">
                <a:solidFill>
                  <a:srgbClr val="1B355E"/>
                </a:solidFill>
              </a:rPr>
              <a:t>◆ Shafik, N. &amp; Bandyopadhyay, S. (1992). Economic Growth and Environmental Quality. World Bank Policy Research Working Paper No. 904.</a:t>
            </a:r>
          </a:p>
          <a:p>
            <a:pPr>
              <a:spcBef>
                <a:spcPts val="400"/>
              </a:spcBef>
            </a:pPr>
            <a:r>
              <a:rPr sz="1400" b="1">
                <a:solidFill>
                  <a:srgbClr val="1B355E"/>
                </a:solidFill>
              </a:rPr>
              <a:t>◆ Panayotou, T. (1993). Empirical Tests and Policy Analysis of Environmental Degradation at Different Stages of Economic Development. ILO Working Paper WP238.</a:t>
            </a:r>
          </a:p>
          <a:p>
            <a:pPr>
              <a:spcBef>
                <a:spcPts val="400"/>
              </a:spcBef>
            </a:pPr>
            <a:r>
              <a:rPr sz="1400" b="1">
                <a:solidFill>
                  <a:srgbClr val="1B355E"/>
                </a:solidFill>
              </a:rPr>
              <a:t>◆ Wheeler, D. (1994). The Economics of Industrial Pollution Control: An International Perspective. World Bank Policy Research Bulletin.</a:t>
            </a:r>
          </a:p>
          <a:p>
            <a:pPr>
              <a:spcBef>
                <a:spcPts val="400"/>
              </a:spcBef>
            </a:pPr>
            <a:r>
              <a:rPr sz="1400" b="1">
                <a:solidFill>
                  <a:srgbClr val="1B355E"/>
                </a:solidFill>
              </a:rPr>
              <a:t>◆ Selden, T.M. &amp; Song, D. (1994). Environmental Quality and Development: Is There a Kuznets Curve? Journal of Environmental Economics &amp; Management, 27(2), 147–162.</a:t>
            </a:r>
          </a:p>
          <a:p>
            <a:pPr>
              <a:spcBef>
                <a:spcPts val="400"/>
              </a:spcBef>
            </a:pPr>
            <a:r>
              <a:rPr sz="1400" b="1">
                <a:solidFill>
                  <a:srgbClr val="1B355E"/>
                </a:solidFill>
              </a:rPr>
              <a:t>◆ Stern, D.I., Common, M.S. &amp; Barbier, E.B. (1996). Economic Growth and Environmental Degradation: The Environmental Kuznets Curve and Sustainable Development. World Development, 24(7), 1151–1160.</a:t>
            </a:r>
          </a:p>
          <a:p>
            <a:pPr>
              <a:spcBef>
                <a:spcPts val="400"/>
              </a:spcBef>
            </a:pPr>
            <a:r>
              <a:rPr sz="1400" b="1">
                <a:solidFill>
                  <a:srgbClr val="1B355E"/>
                </a:solidFill>
              </a:rPr>
              <a:t>◆ Page, M.J. et al. (2021). The PRISMA 2020 Statement. BMJ, 372, n71.</a:t>
            </a:r>
          </a:p>
          <a:p>
            <a:pPr>
              <a:spcBef>
                <a:spcPts val="400"/>
              </a:spcBef>
            </a:pPr>
            <a:r>
              <a:rPr sz="1400" b="1">
                <a:solidFill>
                  <a:srgbClr val="1B355E"/>
                </a:solidFill>
              </a:rPr>
              <a:t>◆ Full bibliography available in the accompanying research report (BS Research Report Final.docx)</a:t>
            </a:r>
          </a:p>
        </p:txBody>
      </p:sp>
      <p:sp>
        <p:nvSpPr>
          <p:cNvPr id="10" name="Rectangle 9"/>
          <p:cNvSpPr/>
          <p:nvPr/>
        </p:nvSpPr>
        <p:spPr>
          <a:xfrm>
            <a:off x="320040" y="6199632"/>
            <a:ext cx="8686800" cy="475488"/>
          </a:xfrm>
          <a:prstGeom prst="rect">
            <a:avLst/>
          </a:prstGeom>
          <a:solidFill>
            <a:srgbClr val="235E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0" i="1">
                <a:solidFill>
                  <a:srgbClr val="FFFFFF"/>
                </a:solidFill>
              </a:rPr>
              <a:t>📊  Visual suggestion: Academic reference list format; consider QR code linking to full bibliography</a:t>
            </a:r>
          </a:p>
        </p:txBody>
      </p:sp>
      <p:sp>
        <p:nvSpPr>
          <p:cNvPr id="11" name="Rectangle 10"/>
          <p:cNvSpPr/>
          <p:nvPr/>
        </p:nvSpPr>
        <p:spPr>
          <a:xfrm>
            <a:off x="91440" y="6601968"/>
            <a:ext cx="9052560" cy="256032"/>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i="0">
                <a:solidFill>
                  <a:srgbClr val="F2F4F8"/>
                </a:solidFill>
              </a:rPr>
              <a:t>Economic Determinants of Sustainability in the Hi-SEM  |  PRISMA-Based Review (1991–1997)  |  References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B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371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0840"/>
            <a:ext cx="9144000" cy="1371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37160"/>
            <a:ext cx="164592" cy="6583680"/>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731520"/>
            <a:ext cx="8549640" cy="5577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05840"/>
            <a:ext cx="8412480" cy="1097280"/>
          </a:xfrm>
          <a:prstGeom prst="rect">
            <a:avLst/>
          </a:prstGeom>
          <a:noFill/>
        </p:spPr>
        <p:txBody>
          <a:bodyPr wrap="square">
            <a:spAutoFit/>
          </a:bodyPr>
          <a:lstStyle/>
          <a:p>
            <a:pPr algn="ctr"/>
            <a:r>
              <a:rPr sz="5200" b="1" i="0">
                <a:solidFill>
                  <a:srgbClr val="1B355E"/>
                </a:solidFill>
              </a:rPr>
              <a:t>Thank You</a:t>
            </a:r>
          </a:p>
        </p:txBody>
      </p:sp>
      <p:sp>
        <p:nvSpPr>
          <p:cNvPr id="8" name="Rectangle 7"/>
          <p:cNvSpPr/>
          <p:nvPr/>
        </p:nvSpPr>
        <p:spPr>
          <a:xfrm>
            <a:off x="1371600" y="2148840"/>
            <a:ext cx="6400800"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86000"/>
            <a:ext cx="8412480" cy="548640"/>
          </a:xfrm>
          <a:prstGeom prst="rect">
            <a:avLst/>
          </a:prstGeom>
          <a:noFill/>
        </p:spPr>
        <p:txBody>
          <a:bodyPr wrap="square">
            <a:spAutoFit/>
          </a:bodyPr>
          <a:lstStyle/>
          <a:p>
            <a:pPr algn="ctr"/>
            <a:r>
              <a:rPr sz="1600" b="0" i="1">
                <a:solidFill>
                  <a:srgbClr val="235E9B"/>
                </a:solidFill>
              </a:rPr>
              <a:t>We Welcome Your Questions &amp; Feedback</a:t>
            </a:r>
          </a:p>
        </p:txBody>
      </p:sp>
      <p:sp>
        <p:nvSpPr>
          <p:cNvPr id="10" name="Rectangle 9"/>
          <p:cNvSpPr/>
          <p:nvPr/>
        </p:nvSpPr>
        <p:spPr>
          <a:xfrm>
            <a:off x="1371600" y="2926080"/>
            <a:ext cx="6400800" cy="36576"/>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063240"/>
            <a:ext cx="8412480" cy="411480"/>
          </a:xfrm>
          <a:prstGeom prst="rect">
            <a:avLst/>
          </a:prstGeom>
          <a:noFill/>
        </p:spPr>
        <p:txBody>
          <a:bodyPr wrap="square">
            <a:spAutoFit/>
          </a:bodyPr>
          <a:lstStyle/>
          <a:p>
            <a:pPr algn="ctr"/>
            <a:r>
              <a:rPr sz="1200" b="0" i="0">
                <a:solidFill>
                  <a:srgbClr val="1A1A2E"/>
                </a:solidFill>
              </a:rPr>
              <a:t>Team:  Mihir Shrimali  ·  Mukul Paul  ·  Rajesh Parmar  ·  Dhruv Shekhava</a:t>
            </a:r>
          </a:p>
        </p:txBody>
      </p:sp>
      <p:sp>
        <p:nvSpPr>
          <p:cNvPr id="12" name="TextBox 11"/>
          <p:cNvSpPr txBox="1"/>
          <p:nvPr/>
        </p:nvSpPr>
        <p:spPr>
          <a:xfrm>
            <a:off x="502920" y="3474720"/>
            <a:ext cx="8412480" cy="365760"/>
          </a:xfrm>
          <a:prstGeom prst="rect">
            <a:avLst/>
          </a:prstGeom>
          <a:noFill/>
        </p:spPr>
        <p:txBody>
          <a:bodyPr wrap="square">
            <a:spAutoFit/>
          </a:bodyPr>
          <a:lstStyle/>
          <a:p>
            <a:pPr algn="ctr"/>
            <a:r>
              <a:rPr sz="1100" b="0" i="1">
                <a:solidFill>
                  <a:srgbClr val="2D6A4F"/>
                </a:solidFill>
              </a:rPr>
              <a:t>Guide:  Prof. Pinkesh Paramar</a:t>
            </a:r>
          </a:p>
        </p:txBody>
      </p:sp>
      <p:sp>
        <p:nvSpPr>
          <p:cNvPr id="13" name="TextBox 12"/>
          <p:cNvSpPr txBox="1"/>
          <p:nvPr/>
        </p:nvSpPr>
        <p:spPr>
          <a:xfrm>
            <a:off x="502920" y="3977639"/>
            <a:ext cx="8412480" cy="502920"/>
          </a:xfrm>
          <a:prstGeom prst="rect">
            <a:avLst/>
          </a:prstGeom>
          <a:noFill/>
        </p:spPr>
        <p:txBody>
          <a:bodyPr wrap="square">
            <a:spAutoFit/>
          </a:bodyPr>
          <a:lstStyle/>
          <a:p>
            <a:pPr algn="ctr"/>
            <a:r>
              <a:rPr sz="1100" b="0" i="1">
                <a:solidFill>
                  <a:srgbClr val="235E9B"/>
                </a:solidFill>
              </a:rPr>
              <a:t>"Sustainability is not an end state—it is a continuous economic choice."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